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Construct mean (1–5)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Skill Augmentation</c:v>
                  </c:pt>
                  <c:pt idx="1">
                    <c:v>Productivity</c:v>
                  </c:pt>
                  <c:pt idx="2">
                    <c:v>Skill Development</c:v>
                  </c:pt>
                  <c:pt idx="3">
                    <c:v>Risk Awareness</c:v>
                  </c:pt>
                  <c:pt idx="4">
                    <c:v>Org. Context</c:v>
                  </c:pt>
                  <c:pt idx="5">
                    <c:v>Job Transformation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3.63</c:v>
                </c:pt>
                <c:pt idx="1">
                  <c:v>3.46</c:v>
                </c:pt>
                <c:pt idx="2">
                  <c:v>3.2</c:v>
                </c:pt>
                <c:pt idx="3">
                  <c:v>3.19</c:v>
                </c:pt>
                <c:pt idx="4">
                  <c:v>3.14</c:v>
                </c:pt>
                <c:pt idx="5">
                  <c:v>2.86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b"/>
        <c:majorGridlines>
          <c:spPr>
            <a:ln w="12700" cap="flat">
              <a:solidFill>
                <a:srgbClr val="DDD8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B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users (n=40)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AE</c:v>
                  </c:pt>
                  <c:pt idx="1">
                    <c:v>PR</c:v>
                  </c:pt>
                  <c:pt idx="2">
                    <c:v>JT</c:v>
                  </c:pt>
                  <c:pt idx="3">
                    <c:v>PSD</c:v>
                  </c:pt>
                  <c:pt idx="4">
                    <c:v>OC</c:v>
                  </c:pt>
                  <c:pt idx="5">
                    <c:v>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4.01</c:v>
                </c:pt>
                <c:pt idx="1">
                  <c:v>3.92</c:v>
                </c:pt>
                <c:pt idx="2">
                  <c:v>3.54</c:v>
                </c:pt>
                <c:pt idx="3">
                  <c:v>3.58</c:v>
                </c:pt>
                <c:pt idx="4">
                  <c:v>3.53</c:v>
                </c:pt>
                <c:pt idx="5">
                  <c:v>3.58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Less-frequent (n=46)</c:v>
                </c:pt>
              </c:strCache>
            </c:strRef>
          </c:tx>
          <c:spPr>
            <a:solidFill>
              <a:srgbClr val="6B7C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AE</c:v>
                  </c:pt>
                  <c:pt idx="1">
                    <c:v>PR</c:v>
                  </c:pt>
                  <c:pt idx="2">
                    <c:v>JT</c:v>
                  </c:pt>
                  <c:pt idx="3">
                    <c:v>PSD</c:v>
                  </c:pt>
                  <c:pt idx="4">
                    <c:v>OC</c:v>
                  </c:pt>
                  <c:pt idx="5">
                    <c:v>RA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3.29</c:v>
                </c:pt>
                <c:pt idx="1">
                  <c:v>3.06</c:v>
                </c:pt>
                <c:pt idx="2">
                  <c:v>2.27</c:v>
                </c:pt>
                <c:pt idx="3">
                  <c:v>2.87</c:v>
                </c:pt>
                <c:pt idx="4">
                  <c:v>2.82</c:v>
                </c:pt>
                <c:pt idx="5">
                  <c:v>2.86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D9E0E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12700" cap="flat">
              <a:solidFill>
                <a:srgbClr val="3949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C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D9E0E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(1–5)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57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Speed / efficiency</c:v>
                  </c:pt>
                  <c:pt idx="1">
                    <c:v>Job satisfaction</c:v>
                  </c:pt>
                  <c:pt idx="2">
                    <c:v>Workload reshaped</c:v>
                  </c:pt>
                  <c:pt idx="3">
                    <c:v>Output quality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3.93</c:v>
                </c:pt>
                <c:pt idx="1">
                  <c:v>3.48</c:v>
                </c:pt>
                <c:pt idx="2">
                  <c:v>3.47</c:v>
                </c:pt>
                <c:pt idx="3">
                  <c:v>2.97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b"/>
        <c:majorGridlines>
          <c:spPr>
            <a:ln w="12700" cap="flat">
              <a:solidFill>
                <a:srgbClr val="DDD8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B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3" Type="http://schemas.openxmlformats.org/officeDocument/2006/relationships/chart" Target="/ppt/charts/chart2.xml"/><Relationship Id="rId2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THESIS DEFENCE  ·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C9A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86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685800" y="36118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surveyed across the EU, UK &amp; US — first-hand evidence, not hype.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4920" y="18745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generative AI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74920" y="257860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actually doing to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74920" y="328269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C97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professional work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120640" y="4343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workforce dynamics and adaptation in the professional-services industry.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20640" y="5074920"/>
            <a:ext cx="6309360" cy="0"/>
          </a:xfrm>
          <a:prstGeom prst="line">
            <a:avLst/>
          </a:prstGeom>
          <a:noFill/>
          <a:ln w="12700">
            <a:solidFill>
              <a:srgbClr val="3A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5212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Koch Silva</a:t>
            </a:r>
            <a:pPr indent="0" marL="0">
              <a:buNone/>
            </a:pPr>
            <a:r>
              <a:rPr lang="en-US" sz="13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MSc International Management (Technology Management) &amp; MBA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5559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Business School   ·   Supervisor: Prof. Dr. Yelena Smirnova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new general-purpose technology arrived — faster than any before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25400">
            <a:solidFill>
              <a:srgbClr val="DDD8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47672"/>
            <a:ext cx="402336" cy="402336"/>
          </a:xfrm>
          <a:prstGeom prst="ellipse">
            <a:avLst/>
          </a:prstGeom>
          <a:solidFill>
            <a:srgbClr val="5A6B87"/>
          </a:solidFill>
          <a:ln w="38100">
            <a:solidFill>
              <a:srgbClr val="F7F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56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974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834640"/>
            <a:ext cx="658368" cy="658368"/>
          </a:xfrm>
          <a:prstGeom prst="ellipse">
            <a:avLst/>
          </a:prstGeom>
          <a:solidFill>
            <a:srgbClr val="5A6B8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3005816"/>
            <a:ext cx="316017" cy="3160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85292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4672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— the engine behind LLMs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02152" y="1947672"/>
            <a:ext cx="402336" cy="402336"/>
          </a:xfrm>
          <a:prstGeom prst="ellipse">
            <a:avLst/>
          </a:prstGeom>
          <a:solidFill>
            <a:srgbClr val="1B2A4A"/>
          </a:solidFill>
          <a:ln w="38100">
            <a:solidFill>
              <a:srgbClr val="F7F5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05072" y="1956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64992" y="2606040"/>
            <a:ext cx="26974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21024" y="283464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200" y="3005816"/>
            <a:ext cx="316017" cy="31601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16552" y="285292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goes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21024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 becomes a general-purpose tool overnight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318504" y="1947672"/>
            <a:ext cx="402336" cy="402336"/>
          </a:xfrm>
          <a:prstGeom prst="ellipse">
            <a:avLst/>
          </a:prstGeom>
          <a:solidFill>
            <a:srgbClr val="1B2A4A"/>
          </a:solidFill>
          <a:ln w="38100">
            <a:solidFill>
              <a:srgbClr val="F7F5E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21424" y="1956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181344" y="2606040"/>
            <a:ext cx="26974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37376" y="283464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552" y="3005816"/>
            <a:ext cx="316017" cy="31601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32904" y="285292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437376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verification, planning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134856" y="1947672"/>
            <a:ext cx="402336" cy="402336"/>
          </a:xfrm>
          <a:prstGeom prst="ellipse">
            <a:avLst/>
          </a:prstGeom>
          <a:solidFill>
            <a:srgbClr val="C9A24B"/>
          </a:solidFill>
          <a:ln w="38100">
            <a:solidFill>
              <a:srgbClr val="F7F5E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637776" y="1956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997696" y="2606040"/>
            <a:ext cx="26974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53728" y="283464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904" y="3005816"/>
            <a:ext cx="316017" cy="31601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49256" y="285292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9253728" y="36576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plan &amp; act autonomously toward goals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</p:sp>
      <p:sp>
        <p:nvSpPr>
          <p:cNvPr id="34" name="Shape 28"/>
          <p:cNvSpPr/>
          <p:nvPr/>
        </p:nvSpPr>
        <p:spPr>
          <a:xfrm>
            <a:off x="896112" y="5138928"/>
            <a:ext cx="749808" cy="74980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62" y="5333878"/>
            <a:ext cx="359908" cy="3599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828800" y="507492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 is framed at once as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expert work. Professional services — advisory, high-stakes, knowledge-intensive — are the most exposed, yet real-world evidence on what is changing remains thin.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Koch Silva  ·  GAI &amp; Workforce Adaptation in Professional Services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MOTIVATION &amp;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evidence gap — and the three questions that close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385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study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evidence predates today's models.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96112" y="3474720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3832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framework: automation displaces, new tasks reinstate (Acemoglu &amp; Restrepo, 2019)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96112" y="4315968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22452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~19% of US jobs have ≥50% of tasks LLM-exposed (Eloundou et al., 2023)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96112" y="5157216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5065776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“Jagged frontier”: +25% speed / +40% quality inside it — degraded judgement outside (Dell'Acqua et al., 2023)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0" y="1600200"/>
            <a:ext cx="74340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600200"/>
            <a:ext cx="1234440" cy="14173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5074920" y="1600200"/>
            <a:ext cx="365760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60020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RQ1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5669280" y="1933956"/>
            <a:ext cx="749808" cy="74980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230" y="2128906"/>
            <a:ext cx="359908" cy="3599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29400" y="1819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Reconfiguration of roles &amp; identities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29400" y="225856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effect replacement, enhancement — or something else altogether?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206240" y="3154680"/>
            <a:ext cx="74340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206240" y="3154680"/>
            <a:ext cx="1234440" cy="1417320"/>
          </a:xfrm>
          <a:prstGeom prst="roundRect">
            <a:avLst>
              <a:gd name="adj" fmla="val 6667"/>
            </a:avLst>
          </a:prstGeom>
          <a:solidFill>
            <a:srgbClr val="C9A24B"/>
          </a:solidFill>
          <a:ln/>
        </p:spPr>
      </p:sp>
      <p:sp>
        <p:nvSpPr>
          <p:cNvPr id="25" name="Shape 21"/>
          <p:cNvSpPr/>
          <p:nvPr/>
        </p:nvSpPr>
        <p:spPr>
          <a:xfrm>
            <a:off x="5074920" y="3154680"/>
            <a:ext cx="365760" cy="14173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Text 22"/>
          <p:cNvSpPr/>
          <p:nvPr/>
        </p:nvSpPr>
        <p:spPr>
          <a:xfrm>
            <a:off x="4206240" y="315468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RQ2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5669280" y="3488436"/>
            <a:ext cx="749808" cy="74980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230" y="3683386"/>
            <a:ext cx="359908" cy="3599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29400" y="33741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 &amp; skill erosion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629400" y="381304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organisational readiness enable development? What protects the junior-talent pipeline?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4206240" y="4709160"/>
            <a:ext cx="74340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  <a:effectLst>
            <a:outerShdw sx="100000" sy="100000" kx="0" ky="0" algn="bl" rotWithShape="0" blurRad="88900" dist="25400" dir="5400000">
              <a:srgbClr val="BBB2A0">
                <a:alpha val="3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206240" y="4709160"/>
            <a:ext cx="1234440" cy="1417320"/>
          </a:xfrm>
          <a:prstGeom prst="roundRect">
            <a:avLst>
              <a:gd name="adj" fmla="val 6667"/>
            </a:avLst>
          </a:prstGeom>
          <a:solidFill>
            <a:srgbClr val="2C7A7B"/>
          </a:solidFill>
          <a:ln/>
        </p:spPr>
      </p:sp>
      <p:sp>
        <p:nvSpPr>
          <p:cNvPr id="33" name="Shape 28"/>
          <p:cNvSpPr/>
          <p:nvPr/>
        </p:nvSpPr>
        <p:spPr>
          <a:xfrm>
            <a:off x="5074920" y="4709160"/>
            <a:ext cx="365760" cy="141732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4" name="Text 29"/>
          <p:cNvSpPr/>
          <p:nvPr/>
        </p:nvSpPr>
        <p:spPr>
          <a:xfrm>
            <a:off x="4206240" y="470916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RQ3</a:t>
            </a:r>
            <a:endParaRPr lang="en-US" sz="2600" dirty="0"/>
          </a:p>
        </p:txBody>
      </p:sp>
      <p:sp>
        <p:nvSpPr>
          <p:cNvPr id="35" name="Shape 30"/>
          <p:cNvSpPr/>
          <p:nvPr/>
        </p:nvSpPr>
        <p:spPr>
          <a:xfrm>
            <a:off x="5669280" y="5042916"/>
            <a:ext cx="749808" cy="749808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30" y="5237866"/>
            <a:ext cx="359908" cy="3599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29400" y="49286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Productivity: perception vs. reality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6629400" y="536752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gains or perceived? Quality, workload, or job satisfaction?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Koch Silva  ·  GAI &amp; Workforce Adaptation in Professional Services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MAIN FINDINGS —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Augmentation is here. </a:t>
            </a:r>
            <a:pPr indent="0" marL="0">
              <a:buNone/>
            </a:pPr>
            <a:r>
              <a:rPr lang="en-US" sz="2900" b="1" dirty="0">
                <a:solidFill>
                  <a:srgbClr val="C9A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Transformation is concentrated.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sample lands, on average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4406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Skill Augmentation &amp; Productivity clear neutral (3.0) with 95% confidence — GAI amplifies expertise more than it changes what the job is.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481328"/>
            <a:ext cx="5468112" cy="502920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/>
        </p:spPr>
      </p:sp>
      <p:sp>
        <p:nvSpPr>
          <p:cNvPr id="8" name="Shape 5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9037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7373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adoption-intensity gradient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46520" y="2450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signal in the whole dataset</a:t>
            </a:r>
            <a:endParaRPr lang="en-US" sz="115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355080" y="2788920"/>
          <a:ext cx="51206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6446520" y="55321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is large &amp; significant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(Cohen's d 0.91–1.38, all p &lt; .001). Job transformation splits hardest: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 vs 2.27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“average” hides two workforces.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Koch Silva  ·  GAI &amp; Workforce Adaptation in Professional Services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MAIN FINDINGS —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Faster, yes. </a:t>
            </a:r>
            <a:pPr indent="0" marL="0">
              <a:buNone/>
            </a:pPr>
            <a:r>
              <a:rPr lang="en-US" sz="2900" b="1" dirty="0">
                <a:solidFill>
                  <a:srgbClr val="C057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Better — not yet.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perception / reality gap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4406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17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76%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48640" y="5138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GAI makes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faster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77440" y="452628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4617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057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35%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2377440" y="5138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quality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0" y="4526280"/>
            <a:ext cx="1691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4617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C7A7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70%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4206240" y="51389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≤ 1 hour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real; quality lags below neutral and time saved is modest — partly reabsorbed as oversight.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1481328"/>
            <a:ext cx="5468112" cy="502920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190378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17373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the dividing line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46520" y="2542032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24365C"/>
          </a:solidFill>
          <a:ln/>
        </p:spPr>
      </p:sp>
      <p:sp>
        <p:nvSpPr>
          <p:cNvPr id="21" name="Text 17"/>
          <p:cNvSpPr/>
          <p:nvPr/>
        </p:nvSpPr>
        <p:spPr>
          <a:xfrm>
            <a:off x="6583680" y="2542032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97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 = .71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726680" y="254203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 → real role change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46520" y="320040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24365C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0" y="320040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97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 = .59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7726680" y="32004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 → skill development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46520" y="3858768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24365C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385876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97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 = .50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7726680" y="38587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 → productivity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46520" y="457200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3A2320"/>
          </a:solidFill>
          <a:ln w="12700">
            <a:solidFill>
              <a:srgbClr val="C0574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601968" y="4791456"/>
            <a:ext cx="548640" cy="548640"/>
          </a:xfrm>
          <a:prstGeom prst="ellipse">
            <a:avLst/>
          </a:prstGeom>
          <a:solidFill>
            <a:srgbClr val="C05746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614" y="4934102"/>
            <a:ext cx="263347" cy="263347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269480" y="461772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0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erosion concentrates on the junior pipeline.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4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access jumps (67%) while genuine skill-building stalls (34%).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446520" y="5742432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5861304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40880" y="568756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feels like more work to control and correct the errors than simply doing it myself.”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Koch Silva  ·  GAI &amp; Workforce Adaptation in Professional Services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REFLECTIONS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I'd flag, what to caveat, and what 2026 now confirms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630168" cy="4526280"/>
          </a:xfrm>
          <a:prstGeom prst="roundRect">
            <a:avLst>
              <a:gd name="adj" fmla="val 2519"/>
            </a:avLst>
          </a:prstGeom>
          <a:solidFill>
            <a:srgbClr val="24365C"/>
          </a:solidFill>
          <a:ln w="12700">
            <a:solidFill>
              <a:srgbClr val="3949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28800"/>
            <a:ext cx="713232" cy="71323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112" y="201424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47088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&amp; honesty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41248" y="2807208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97480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sub-scale — Organisational Context (α = .55) — is two-dimensional (policy vs. support); treated as formative and read with caution, not as a clean reflective scale.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841248" y="3977640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867912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HTMT discriminant values run high: constructs correlate. Findings are read as patterns, not causal claims.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841248" y="5148072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5038344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AE5 (deskilling) reported standalone, not folded into augmentation.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4361688" y="1572768"/>
            <a:ext cx="3630168" cy="4526280"/>
          </a:xfrm>
          <a:prstGeom prst="roundRect">
            <a:avLst>
              <a:gd name="adj" fmla="val 2519"/>
            </a:avLst>
          </a:prstGeom>
          <a:solidFill>
            <a:srgbClr val="24365C"/>
          </a:solidFill>
          <a:ln w="12700">
            <a:solidFill>
              <a:srgbClr val="3949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1828800"/>
            <a:ext cx="713232" cy="71323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60" y="2014240"/>
            <a:ext cx="342351" cy="34235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58968" y="1847088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E4C9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654296" y="2807208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0" name="Text 16"/>
          <p:cNvSpPr/>
          <p:nvPr/>
        </p:nvSpPr>
        <p:spPr>
          <a:xfrm>
            <a:off x="4864608" y="2697480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&amp; self-reported — associations, not causation; perceived productivity, not audited output.</a:t>
            </a:r>
            <a:endParaRPr lang="en-US" sz="1130" dirty="0"/>
          </a:p>
        </p:txBody>
      </p:sp>
      <p:sp>
        <p:nvSpPr>
          <p:cNvPr id="21" name="Shape 17"/>
          <p:cNvSpPr/>
          <p:nvPr/>
        </p:nvSpPr>
        <p:spPr>
          <a:xfrm>
            <a:off x="4654296" y="3977640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2" name="Text 18"/>
          <p:cNvSpPr/>
          <p:nvPr/>
        </p:nvSpPr>
        <p:spPr>
          <a:xfrm>
            <a:off x="4864608" y="3867912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Purposive, non-probability sample (N = 86): analytic, not statistical, generalisation.</a:t>
            </a:r>
            <a:endParaRPr lang="en-US" sz="1130" dirty="0"/>
          </a:p>
        </p:txBody>
      </p:sp>
      <p:sp>
        <p:nvSpPr>
          <p:cNvPr id="23" name="Shape 19"/>
          <p:cNvSpPr/>
          <p:nvPr/>
        </p:nvSpPr>
        <p:spPr>
          <a:xfrm>
            <a:off x="4654296" y="5148072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5038344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6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longitudinal panel (12 &amp; 24 months) within one sector to test causal direction.</a:t>
            </a:r>
            <a:endParaRPr lang="en-US" sz="1130" dirty="0"/>
          </a:p>
        </p:txBody>
      </p:sp>
      <p:sp>
        <p:nvSpPr>
          <p:cNvPr id="25" name="Shape 21"/>
          <p:cNvSpPr/>
          <p:nvPr/>
        </p:nvSpPr>
        <p:spPr>
          <a:xfrm>
            <a:off x="8174736" y="1572768"/>
            <a:ext cx="3630168" cy="4526280"/>
          </a:xfrm>
          <a:prstGeom prst="roundRect">
            <a:avLst>
              <a:gd name="adj" fmla="val 2519"/>
            </a:avLst>
          </a:prstGeom>
          <a:solidFill>
            <a:srgbClr val="12332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30768" y="1828800"/>
            <a:ext cx="713232" cy="713232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208" y="2014240"/>
            <a:ext cx="342351" cy="34235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272016" y="1847088"/>
            <a:ext cx="2441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9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research aligns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467344" y="2807208"/>
            <a:ext cx="82296" cy="82296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0" name="Text 25"/>
          <p:cNvSpPr/>
          <p:nvPr/>
        </p:nvSpPr>
        <p:spPr>
          <a:xfrm>
            <a:off x="8677656" y="2697480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D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NBER WP 34984 (Baslandze et al., 2026): ~750 executives document the SAME productivity paradox — perceived gains exceed measured gains.</a:t>
            </a:r>
            <a:endParaRPr lang="en-US" sz="1130" dirty="0"/>
          </a:p>
        </p:txBody>
      </p:sp>
      <p:sp>
        <p:nvSpPr>
          <p:cNvPr id="31" name="Shape 26"/>
          <p:cNvSpPr/>
          <p:nvPr/>
        </p:nvSpPr>
        <p:spPr>
          <a:xfrm>
            <a:off x="8467344" y="3977640"/>
            <a:ext cx="82296" cy="82296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2" name="Text 27"/>
          <p:cNvSpPr/>
          <p:nvPr/>
        </p:nvSpPr>
        <p:spPr>
          <a:xfrm>
            <a:off x="8677656" y="3867912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D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AI Jobs Barometer 2026: a two-track market — AI-exposed junior roles now demand senior-level skills, echoing my pipeline concern.</a:t>
            </a:r>
            <a:endParaRPr lang="en-US" sz="1130" dirty="0"/>
          </a:p>
        </p:txBody>
      </p:sp>
      <p:sp>
        <p:nvSpPr>
          <p:cNvPr id="33" name="Shape 28"/>
          <p:cNvSpPr/>
          <p:nvPr/>
        </p:nvSpPr>
        <p:spPr>
          <a:xfrm>
            <a:off x="8467344" y="5148072"/>
            <a:ext cx="82296" cy="82296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4" name="Text 29"/>
          <p:cNvSpPr/>
          <p:nvPr/>
        </p:nvSpPr>
        <p:spPr>
          <a:xfrm>
            <a:off x="8677656" y="5038344"/>
            <a:ext cx="28529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CD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Thomson Reuters 2026: field enters the “strategic phase” — governance &amp; workflow redesign, exactly the dividing line found here.</a:t>
            </a:r>
            <a:endParaRPr lang="en-US" sz="1130" dirty="0"/>
          </a:p>
        </p:txBody>
      </p:sp>
      <p:sp>
        <p:nvSpPr>
          <p:cNvPr id="35" name="Text 30"/>
          <p:cNvSpPr/>
          <p:nvPr/>
        </p:nvSpPr>
        <p:spPr>
          <a:xfrm>
            <a:off x="548640" y="624535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AE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with a new oversight layer — not replacement; the productivity gain is perceived ahead of realised; and governance, not tool access, is what separates firms where people grow from firms where skills erode.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2026-07-15T16:45:49Z</dcterms:created>
  <dcterms:modified xsi:type="dcterms:W3CDTF">2026-07-15T16:45:49Z</dcterms:modified>
</cp:coreProperties>
</file>