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0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4882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capstone asks whether agentic AI's promised enterprise value is actually materialising in Europe — examined across three gaps: economic, human-value and regulatory.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and context. Agentic AI moves from passive assistants to autonomous multi-agent systems. The promise ($450B by 2028) sits against evidence of underperformance (95% of pilots show no P&amp;L). This matters now because the hype is already driving real job cuts and investment, Europe is under-studied relative to the US, and the EU AI Act was written before these agents existed.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objective is one overarching question decomposed into three gaps. Method: a SPAR-4-SLR + PRISMA systematic review, 910 records screened to 70, with a four-tier grading scheme so vendor claims are never blended with peer-reviewed evidence — the distance between them is the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each row left to right: what Tier-3 sources promised, what Tier-1/2 evidence shows. Economic gap wide — realised value far below 25% of projection. Human-value gap moderate and contested — oversight burden rather than augmentation. Regulatory gap moderate-to-wide.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finding: the same controls the AI Act demands are the ones that make agents reliable. Compliance-by-design operates as reliability engineering — supported by the TRiSM literature (Raza et al., 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the gap is a system-level problem — cost under-estimation and organisational readiness, not model capability or regulation. Limitations: thin Tier-1 cost evidence (6 of 9 TCO components on Tier-4 triangulation) and a perception-based survey. New 2026 recommendation: the field has moved to trajectory-level, tool-aware evaluation; adopting published TRiSM metrics (Component Synergy Score, Tool Utilization Efficacy) as compliance-linked reliability KPIs gives a concrete instrument to test P3 empirically, closing the study's own 'plausible but unconfirmed'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3A2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68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DEFENSE · JULY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2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Beyond the Hype Cycle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in the European enterprise:
the </a:t>
            </a:r>
            <a:r>
              <a:rPr lang="en-US" sz="2500" b="1" dirty="0">
                <a:solidFill>
                  <a:srgbClr val="C68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</a:t>
            </a:r>
            <a:r>
              <a:rPr lang="en-US" sz="250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vs. the </a:t>
            </a:r>
            <a:r>
              <a:rPr lang="en-US" sz="2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r>
              <a:rPr lang="en-US" sz="2500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gap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2377440" cy="658368"/>
          </a:xfrm>
          <a:prstGeom prst="roundRect">
            <a:avLst>
              <a:gd name="adj" fmla="val 13889"/>
            </a:avLst>
          </a:prstGeom>
          <a:solidFill>
            <a:srgbClr val="3A2A1A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498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434340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29000" y="4343400"/>
            <a:ext cx="2377440" cy="658368"/>
          </a:xfrm>
          <a:prstGeom prst="roundRect">
            <a:avLst>
              <a:gd name="adj" fmla="val 13889"/>
            </a:avLst>
          </a:prstGeom>
          <a:solidFill>
            <a:srgbClr val="3A2A1A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449884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23360" y="434340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Human-value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35040" y="4343400"/>
            <a:ext cx="2377440" cy="658368"/>
          </a:xfrm>
          <a:prstGeom prst="roundRect">
            <a:avLst>
              <a:gd name="adj" fmla="val 13889"/>
            </a:avLst>
          </a:prstGeom>
          <a:solidFill>
            <a:srgbClr val="3A2A1A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49884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434340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91540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Clara Koch Silva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8915400" y="48006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Master — International Business Management (Technology) &amp; MBA
</a:t>
            </a:r>
            <a:r>
              <a:rPr lang="en-US" sz="115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International Business School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Nik Neshat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915400" y="731520"/>
            <a:ext cx="914400" cy="9144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3144" y="969264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TOPIC &amp;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B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technology riding the highest wave of expectation — while the evidence tells a quieter story.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892040" cy="2148840"/>
          </a:xfrm>
          <a:prstGeom prst="roundRect">
            <a:avLst>
              <a:gd name="adj" fmla="val 5106"/>
            </a:avLst>
          </a:prstGeom>
          <a:solidFill>
            <a:srgbClr val="2B201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32688" y="2267712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" y="2457907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0512" y="2377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68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AI?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32688" y="310896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D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</a:t>
            </a:r>
            <a:r>
              <a:rPr lang="en-US" sz="1300" b="1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perceive, decide and act autonomously</a:t>
            </a:r>
            <a:r>
              <a:rPr lang="en-US" sz="1300" dirty="0">
                <a:solidFill>
                  <a:srgbClr val="E8D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pursue evolving goals — moving from passive </a:t>
            </a:r>
            <a:r>
              <a:rPr lang="en-US" sz="1300" i="1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</a:t>
            </a:r>
            <a:r>
              <a:rPr lang="en-US" sz="1300" dirty="0">
                <a:solidFill>
                  <a:srgbClr val="E8D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coordinated </a:t>
            </a:r>
            <a:r>
              <a:rPr lang="en-US" sz="1300" i="1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r>
              <a:rPr lang="en-US" sz="1300" dirty="0">
                <a:solidFill>
                  <a:srgbClr val="E8D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workers with memory and tool use.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4251960"/>
            <a:ext cx="2377440" cy="1965960"/>
          </a:xfrm>
          <a:prstGeom prst="roundRect">
            <a:avLst>
              <a:gd name="adj" fmla="val 5581"/>
            </a:avLst>
          </a:prstGeom>
          <a:solidFill>
            <a:srgbClr val="C68B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822960" y="4434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B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47548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$450B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22960" y="55321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B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enterprise value forecast by 2028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54680" y="4251960"/>
            <a:ext cx="2377440" cy="1965960"/>
          </a:xfrm>
          <a:prstGeom prst="roundRect">
            <a:avLst>
              <a:gd name="adj" fmla="val 5581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337560" y="4434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B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37560" y="47548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95%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3337560" y="5532120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B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GenAI pilots show no measurable P&amp;L impact (MIT NANDA)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52160" y="1965960"/>
            <a:ext cx="571500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5DB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172200" y="2194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99632" y="2651760"/>
            <a:ext cx="603504" cy="60350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834640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67728" y="263347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Hype is driving real decisions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967728" y="298094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Klarna and DeepL cut ~1,000 jobs on AI promises — Klarna reversed course after service quality collapsed. Gartner: &gt;40% of agentic projects cancelled by 2027.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199632" y="3822192"/>
            <a:ext cx="603504" cy="60350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4005072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67728" y="380390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Europe is under-studied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967728" y="4151376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evidence is US-centred. The EU's data-sovereignty rules, adoption lag (4% vs 7% production use) and the AI Act create a distinct context.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199632" y="4992624"/>
            <a:ext cx="603504" cy="603504"/>
          </a:xfrm>
          <a:prstGeom prst="ellipse">
            <a:avLst/>
          </a:prstGeom>
          <a:solidFill>
            <a:srgbClr val="7C908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5166360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67728" y="497433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law predates the technology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967728" y="532180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 AI Act (Reg. 2024/1689) was drafted before autonomous agents existed — Arts. 12, 13, 14, 26 strain against dynamic multi-agent systems.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question, three gaps — measured against an auditable, bias-graded evidence base.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74920" cy="2148840"/>
          </a:xfrm>
          <a:prstGeom prst="roundRect">
            <a:avLst>
              <a:gd name="adj" fmla="val 5106"/>
            </a:avLst>
          </a:prstGeom>
          <a:solidFill>
            <a:srgbClr val="2B201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0482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385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68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 (RQ0)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8D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</a:t>
            </a:r>
            <a:r>
              <a:rPr lang="en-US" sz="1450" b="1" dirty="0">
                <a:solidFill>
                  <a:srgbClr val="C68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ownership</a:t>
            </a:r>
            <a:r>
              <a:rPr lang="en-US" sz="1450" dirty="0">
                <a:solidFill>
                  <a:srgbClr val="E8D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agentic AI compare with the </a:t>
            </a:r>
            <a:r>
              <a:rPr lang="en-US" sz="14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value</a:t>
            </a:r>
            <a:r>
              <a:rPr lang="en-US" sz="1450" dirty="0">
                <a:solidFill>
                  <a:srgbClr val="E8D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actually delivers — shaped by organisational readiness, regulation and human capability?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393192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DB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777240" y="403250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16052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93192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RQ1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011680" y="393192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 </a:t>
            </a:r>
            <a:r>
              <a:rPr lang="en-US" sz="1100" i="1" dirty="0">
                <a:solidFill>
                  <a:srgbClr val="6E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vs projected ROI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70916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DB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777240" y="4809744"/>
            <a:ext cx="457200" cy="457200"/>
          </a:xfrm>
          <a:prstGeom prst="ellipse">
            <a:avLst/>
          </a:prstGeom>
          <a:solidFill>
            <a:srgbClr val="C68B3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93776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470916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8B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RQ2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2011680" y="470916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Human-value  </a:t>
            </a:r>
            <a:r>
              <a:rPr lang="en-US" sz="1100" i="1" dirty="0">
                <a:solidFill>
                  <a:srgbClr val="6E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vs deskilling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48640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DB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4E635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5715000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48640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635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RQ3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2011680" y="548640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 </a:t>
            </a:r>
            <a:r>
              <a:rPr lang="en-US" sz="1100" i="1" dirty="0">
                <a:solidFill>
                  <a:srgbClr val="6E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vs dynamic agents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989320" y="16276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SPAR-4-SLR + PRISMA · graded for vendor bias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103620" y="2011680"/>
            <a:ext cx="3063240" cy="566928"/>
          </a:xfrm>
          <a:prstGeom prst="roundRect">
            <a:avLst>
              <a:gd name="adj" fmla="val 1129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6213348" y="201168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910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7155180" y="20116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identified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469380" y="2670048"/>
            <a:ext cx="2331720" cy="566928"/>
          </a:xfrm>
          <a:prstGeom prst="roundRect">
            <a:avLst>
              <a:gd name="adj" fmla="val 11290"/>
            </a:avLst>
          </a:prstGeom>
          <a:solidFill>
            <a:srgbClr val="8F3B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3"/>
          <p:cNvSpPr/>
          <p:nvPr/>
        </p:nvSpPr>
        <p:spPr>
          <a:xfrm>
            <a:off x="6579108" y="267004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210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7520940" y="267004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screening (κ=0.74)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812280" y="3328416"/>
            <a:ext cx="1645920" cy="566928"/>
          </a:xfrm>
          <a:prstGeom prst="roundRect">
            <a:avLst>
              <a:gd name="adj" fmla="val 11290"/>
            </a:avLst>
          </a:prstGeom>
          <a:solidFill>
            <a:srgbClr val="2B201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6"/>
          <p:cNvSpPr/>
          <p:nvPr/>
        </p:nvSpPr>
        <p:spPr>
          <a:xfrm>
            <a:off x="6922008" y="332841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70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7863840" y="3328416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&amp; coded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598932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6E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practitioner survey (N=86) — illustrative perception data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9509760" y="2011680"/>
            <a:ext cx="2057400" cy="2331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DB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0"/>
          <p:cNvSpPr/>
          <p:nvPr/>
        </p:nvSpPr>
        <p:spPr>
          <a:xfrm>
            <a:off x="9646920" y="2121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TIERS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9646920" y="2450592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4E635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2"/>
          <p:cNvSpPr/>
          <p:nvPr/>
        </p:nvSpPr>
        <p:spPr>
          <a:xfrm>
            <a:off x="9646920" y="245059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T1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10195560" y="245059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9646920" y="2907792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7C90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5"/>
          <p:cNvSpPr/>
          <p:nvPr/>
        </p:nvSpPr>
        <p:spPr>
          <a:xfrm>
            <a:off x="9646920" y="290779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T2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10195560" y="290779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9646920" y="3364992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C68B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38"/>
          <p:cNvSpPr/>
          <p:nvPr/>
        </p:nvSpPr>
        <p:spPr>
          <a:xfrm>
            <a:off x="9646920" y="336499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T3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10195560" y="336499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houses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9646920" y="3822192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1"/>
          <p:cNvSpPr/>
          <p:nvPr/>
        </p:nvSpPr>
        <p:spPr>
          <a:xfrm>
            <a:off x="9646920" y="382219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T4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10195560" y="382219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SEO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5989320" y="4617720"/>
            <a:ext cx="5577840" cy="1600200"/>
          </a:xfrm>
          <a:prstGeom prst="roundRect">
            <a:avLst>
              <a:gd name="adj" fmla="val 6857"/>
            </a:avLst>
          </a:prstGeom>
          <a:solidFill>
            <a:srgbClr val="3A2A1A"/>
          </a:solidFill>
          <a:ln w="12700">
            <a:solidFill>
              <a:srgbClr val="7C90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4"/>
          <p:cNvSpPr/>
          <p:nvPr/>
        </p:nvSpPr>
        <p:spPr>
          <a:xfrm>
            <a:off x="6263640" y="4892040"/>
            <a:ext cx="777240" cy="777240"/>
          </a:xfrm>
          <a:prstGeom prst="ellipse">
            <a:avLst/>
          </a:prstGeom>
          <a:solidFill>
            <a:srgbClr val="4E635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096" y="5111496"/>
            <a:ext cx="338328" cy="33832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7223760" y="4754880"/>
            <a:ext cx="4160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68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design.  </a:t>
            </a:r>
            <a:r>
              <a:rPr lang="en-US" sz="1200" dirty="0">
                <a:solidFill>
                  <a:srgbClr val="D8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Firm-level outcome data barely exists — the promise lives in vendor claims. Grading Tier-3/4 projections against Tier-1/2 evidence turns the </a:t>
            </a:r>
            <a:r>
              <a:rPr lang="en-US" sz="1200" b="1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promise–reality gap itself into the object of measurement.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B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gaps, three verdicts — what was promised vs. what the evidence shows.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2788920" y="148132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68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PROMISED  (Tier 3–4)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4813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E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  (graded Tier 1–2 evidence)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965960" cy="1298448"/>
          </a:xfrm>
          <a:prstGeom prst="roundRect">
            <a:avLst>
              <a:gd name="adj" fmla="val 6338"/>
            </a:avLst>
          </a:prstGeom>
          <a:solidFill>
            <a:srgbClr val="2B201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41248" y="2039112"/>
            <a:ext cx="475488" cy="47548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17627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01168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Economic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17320" y="23317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68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41248" y="2715768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841248" y="2715768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88920" y="1874520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BF1E4"/>
          </a:solidFill>
          <a:ln w="12700">
            <a:solidFill>
              <a:srgbClr val="EAD9C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971800" y="1920240"/>
            <a:ext cx="365760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$450B agentic value by 2028; 33% of enterprise apps agentic.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03136" y="2404872"/>
            <a:ext cx="310896" cy="237744"/>
          </a:xfrm>
          <a:prstGeom prst="rightArrow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7223760" y="1874520"/>
            <a:ext cx="4343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875">
            <a:solidFill>
              <a:srgbClr val="7C90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406640" y="1920240"/>
            <a:ext cx="40233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~6% of firms reach ≥5% EBIT · 4% of EU firms in production · 40–60% hidden TCO · &gt;40% of projects forecast cancelled by 2027.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282696"/>
            <a:ext cx="1965960" cy="1298448"/>
          </a:xfrm>
          <a:prstGeom prst="roundRect">
            <a:avLst>
              <a:gd name="adj" fmla="val 6338"/>
            </a:avLst>
          </a:prstGeom>
          <a:solidFill>
            <a:srgbClr val="2B201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841248" y="3447288"/>
            <a:ext cx="475488" cy="475488"/>
          </a:xfrm>
          <a:prstGeom prst="ellipse">
            <a:avLst/>
          </a:prstGeom>
          <a:solidFill>
            <a:srgbClr val="C68B3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584448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17320" y="3419856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Human-value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417320" y="37398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68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841248" y="4123944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C68B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0"/>
          <p:cNvSpPr/>
          <p:nvPr/>
        </p:nvSpPr>
        <p:spPr>
          <a:xfrm>
            <a:off x="841248" y="4123944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788920" y="3282696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BF1E4"/>
          </a:solidFill>
          <a:ln w="12700">
            <a:solidFill>
              <a:srgbClr val="EAD9C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2"/>
          <p:cNvSpPr/>
          <p:nvPr/>
        </p:nvSpPr>
        <p:spPr>
          <a:xfrm>
            <a:off x="2971800" y="3328416"/>
            <a:ext cx="365760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workers shift to high-value tasks; AI as "assistant, not replacement."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803136" y="3813048"/>
            <a:ext cx="310896" cy="237744"/>
          </a:xfrm>
          <a:prstGeom prst="rightArrow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4"/>
          <p:cNvSpPr/>
          <p:nvPr/>
        </p:nvSpPr>
        <p:spPr>
          <a:xfrm>
            <a:off x="7223760" y="3282696"/>
            <a:ext cx="4343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875">
            <a:solidFill>
              <a:srgbClr val="7C90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5"/>
          <p:cNvSpPr/>
          <p:nvPr/>
        </p:nvSpPr>
        <p:spPr>
          <a:xfrm>
            <a:off x="7406640" y="3328416"/>
            <a:ext cx="40233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49% not using agentic AI · 71% save &lt;1h/day · freed time absorbed by volume · oversight burden = "reverse augmentation."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40080" y="4690872"/>
            <a:ext cx="1965960" cy="1298448"/>
          </a:xfrm>
          <a:prstGeom prst="roundRect">
            <a:avLst>
              <a:gd name="adj" fmla="val 6338"/>
            </a:avLst>
          </a:prstGeom>
          <a:solidFill>
            <a:srgbClr val="2B201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7"/>
          <p:cNvSpPr/>
          <p:nvPr/>
        </p:nvSpPr>
        <p:spPr>
          <a:xfrm>
            <a:off x="841248" y="4855464"/>
            <a:ext cx="475488" cy="475488"/>
          </a:xfrm>
          <a:prstGeom prst="ellipse">
            <a:avLst/>
          </a:prstGeom>
          <a:solidFill>
            <a:srgbClr val="8F3B3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992624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417320" y="4828032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Regulatory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1417320" y="51480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68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841248" y="5532120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8F3B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1"/>
          <p:cNvSpPr/>
          <p:nvPr/>
        </p:nvSpPr>
        <p:spPr>
          <a:xfrm>
            <a:off x="841248" y="5532120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MOD–WIDE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2788920" y="4690872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BF1E4"/>
          </a:solidFill>
          <a:ln w="12700">
            <a:solidFill>
              <a:srgbClr val="EAD9C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3"/>
          <p:cNvSpPr/>
          <p:nvPr/>
        </p:nvSpPr>
        <p:spPr>
          <a:xfrm>
            <a:off x="2971800" y="4736592"/>
            <a:ext cx="365760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 AI Act as a clear, one-off compliance framework.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6803136" y="5221224"/>
            <a:ext cx="310896" cy="237744"/>
          </a:xfrm>
          <a:prstGeom prst="rightArrow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5"/>
          <p:cNvSpPr/>
          <p:nvPr/>
        </p:nvSpPr>
        <p:spPr>
          <a:xfrm>
            <a:off x="7223760" y="4690872"/>
            <a:ext cx="4343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875">
            <a:solidFill>
              <a:srgbClr val="7C90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6"/>
          <p:cNvSpPr/>
          <p:nvPr/>
        </p:nvSpPr>
        <p:spPr>
          <a:xfrm>
            <a:off x="7406640" y="4736592"/>
            <a:ext cx="402336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12–14 strain against multi-agent tool chains · runtime drift vs. "substantial modification" unresolved · untraceable drift = not lawfully deployable.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3A2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68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 · HYPOTHESIS P3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C8B7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"Regulation kills innovation" </a:t>
            </a:r>
            <a:r>
              <a:rPr lang="en-US" sz="2700" b="1" dirty="0">
                <a:solidFill>
                  <a:srgbClr val="F2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does not hold.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3246120" cy="1920240"/>
          </a:xfrm>
          <a:prstGeom prst="roundRect">
            <a:avLst>
              <a:gd name="adj" fmla="val 5714"/>
            </a:avLst>
          </a:prstGeom>
          <a:solidFill>
            <a:srgbClr val="4E635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097280" y="2542032"/>
            <a:ext cx="640080" cy="640080"/>
          </a:xfrm>
          <a:prstGeom prst="ellipse">
            <a:avLst/>
          </a:prstGeom>
          <a:solidFill>
            <a:srgbClr val="F2E9D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7249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606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CONTROLS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33375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12–14: trace logs · human-in-the-loop gates · drift monitoring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138160" y="2286000"/>
            <a:ext cx="3246120" cy="1920240"/>
          </a:xfrm>
          <a:prstGeom prst="roundRect">
            <a:avLst>
              <a:gd name="adj" fmla="val 5714"/>
            </a:avLst>
          </a:prstGeom>
          <a:solidFill>
            <a:srgbClr val="8F3B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8412480" y="2542032"/>
            <a:ext cx="640080" cy="640080"/>
          </a:xfrm>
          <a:prstGeom prst="ellipse">
            <a:avLst/>
          </a:prstGeom>
          <a:solidFill>
            <a:srgbClr val="F2E9D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7249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89720" y="2606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 FAILURE MODES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412480" y="33375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23.5% · inter-agent 32.3% — the ways multi-agent systems break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160520" y="3127248"/>
            <a:ext cx="685800" cy="256032"/>
          </a:xfrm>
          <a:prstGeom prst="rightArrow">
            <a:avLst/>
          </a:prstGeom>
          <a:solidFill>
            <a:srgbClr val="C68B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7360920" y="3127248"/>
            <a:ext cx="685800" cy="256032"/>
          </a:xfrm>
          <a:prstGeom prst="leftArrow">
            <a:avLst/>
          </a:prstGeom>
          <a:solidFill>
            <a:srgbClr val="C68B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4892040" y="2148840"/>
            <a:ext cx="2423160" cy="2194560"/>
          </a:xfrm>
          <a:prstGeom prst="roundRect">
            <a:avLst>
              <a:gd name="adj" fmla="val 5833"/>
            </a:avLst>
          </a:prstGeom>
          <a:solidFill>
            <a:srgbClr val="B85042"/>
          </a:solidFill>
          <a:ln w="25400">
            <a:solidFill>
              <a:srgbClr val="C68B3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5788152" y="2395728"/>
            <a:ext cx="621792" cy="621792"/>
          </a:xfrm>
          <a:prstGeom prst="ellipse">
            <a:avLst/>
          </a:prstGeom>
          <a:solidFill>
            <a:srgbClr val="F2E9D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2" y="257860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92040" y="30632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SYNERGY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5029200" y="34290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B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Governance-by-design doubles as reliability engineering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22960" y="4709160"/>
            <a:ext cx="10561320" cy="1417320"/>
          </a:xfrm>
          <a:prstGeom prst="roundRect">
            <a:avLst>
              <a:gd name="adj" fmla="val 7742"/>
            </a:avLst>
          </a:prstGeom>
          <a:solidFill>
            <a:srgbClr val="3A2A1A"/>
          </a:solidFill>
          <a:ln w="12700">
            <a:solidFill>
              <a:srgbClr val="7C90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1097280" y="4956048"/>
            <a:ext cx="914400" cy="914400"/>
          </a:xfrm>
          <a:prstGeom prst="ellipse">
            <a:avLst/>
          </a:prstGeom>
          <a:solidFill>
            <a:srgbClr val="4E635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5024" y="5193792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240280" y="4864608"/>
            <a:ext cx="9006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7C9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P3 is PLAUSIBLE.   </a:t>
            </a:r>
            <a:r>
              <a:rPr lang="en-US" sz="1400" dirty="0">
                <a:solidFill>
                  <a:srgbClr val="D8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controls the AI Act demands (Arts. 12–14) structurally overlap with the mitigations that make agents reliable. In Europe, building agentic AI </a:t>
            </a:r>
            <a:r>
              <a:rPr lang="en-US" sz="1400" b="1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compliance</a:t>
            </a:r>
            <a:r>
              <a:rPr lang="en-US" sz="1400" dirty="0">
                <a:solidFill>
                  <a:srgbClr val="D8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building it </a:t>
            </a:r>
            <a:r>
              <a:rPr lang="en-US" sz="1400" b="1" dirty="0">
                <a:solidFill>
                  <a:srgbClr val="C68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value</a:t>
            </a:r>
            <a:r>
              <a:rPr lang="en-US" sz="1400" dirty="0">
                <a:solidFill>
                  <a:srgbClr val="D8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the same engineering problem.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 &amp; 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gap is real — but it's a system problem, not a model problem.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2697480"/>
          </a:xfrm>
          <a:prstGeom prst="roundRect">
            <a:avLst>
              <a:gd name="adj" fmla="val 4068"/>
            </a:avLst>
          </a:prstGeom>
          <a:solidFill>
            <a:srgbClr val="2B201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68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ANSWER MEANS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475488" cy="47548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3172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214884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8D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TCO under-estimation and organisational-readiness deficits — not model capability, and not EU regulation.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14400" y="2889504"/>
            <a:ext cx="475488" cy="47548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02666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36192" y="2843784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8D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 productivity J-curve: delayed benefits while complementary intangibles are built (EU 4% vs US 7% production use).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914400" y="3584448"/>
            <a:ext cx="475488" cy="47548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721608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36192" y="3538728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8D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controls and reliability mechanisms converge (P3, supported by TRiSM literature).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443484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DB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1"/>
          <p:cNvSpPr/>
          <p:nvPr/>
        </p:nvSpPr>
        <p:spPr>
          <a:xfrm>
            <a:off x="914400" y="4681728"/>
            <a:ext cx="512064" cy="512064"/>
          </a:xfrm>
          <a:prstGeom prst="ellipse">
            <a:avLst/>
          </a:prstGeom>
          <a:solidFill>
            <a:srgbClr val="4E635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482803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72768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572768" y="502920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2B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Tier-1 cost evidence — </a:t>
            </a:r>
            <a:r>
              <a:rPr lang="en-US" sz="1100" dirty="0">
                <a:solidFill>
                  <a:srgbClr val="6E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9 TCO components rest on Tier-4 triangulation; this evidence gap is itself a finding. The N=86 survey (49% non-users) measures </a:t>
            </a:r>
            <a:r>
              <a:rPr lang="en-US" sz="1100" b="1" dirty="0">
                <a:solidFill>
                  <a:srgbClr val="2B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perception, not impact</a:t>
            </a:r>
            <a:r>
              <a:rPr lang="en-US" sz="1100" dirty="0">
                <a:solidFill>
                  <a:srgbClr val="6E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comparative analysis, not a causal proof.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35508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PRACTICE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355080" y="1993392"/>
            <a:ext cx="530352" cy="530352"/>
          </a:xfrm>
          <a:prstGeom prst="ellipse">
            <a:avLst/>
          </a:prstGeom>
          <a:solidFill>
            <a:srgbClr val="4E635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384" y="213969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22592" y="19751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Budget against true TCO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7022592" y="228600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050" dirty="0">
                <a:solidFill>
                  <a:srgbClr val="6E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Inference, orchestration, oversight, audit, retraining + EU sovereign-infrastructure premium — not vendor ROI decks.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355080" y="2816352"/>
            <a:ext cx="530352" cy="530352"/>
          </a:xfrm>
          <a:prstGeom prst="ellipse">
            <a:avLst/>
          </a:prstGeom>
          <a:solidFill>
            <a:srgbClr val="4E635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1384" y="2962656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22592" y="27980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Mandate Human + AI design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7022592" y="31089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050" dirty="0">
                <a:solidFill>
                  <a:srgbClr val="6E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as default: agents absorb repetition, humans keep judgment and strategic oversight.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6355080" y="3639312"/>
            <a:ext cx="530352" cy="530352"/>
          </a:xfrm>
          <a:prstGeom prst="ellipse">
            <a:avLst/>
          </a:prstGeom>
          <a:solidFill>
            <a:srgbClr val="4E635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1384" y="3785616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22592" y="36210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0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Deploy from strategy, not hype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7022592" y="39319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050" dirty="0">
                <a:solidFill>
                  <a:srgbClr val="6E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high-value, low-complexity workflows; scale on evidence, not projection.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6355080" y="443484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3A2A1A"/>
          </a:solidFill>
          <a:ln w="19050">
            <a:solidFill>
              <a:srgbClr val="C68B3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25"/>
          <p:cNvSpPr/>
          <p:nvPr/>
        </p:nvSpPr>
        <p:spPr>
          <a:xfrm>
            <a:off x="6629400" y="4681728"/>
            <a:ext cx="566928" cy="566928"/>
          </a:xfrm>
          <a:prstGeom prst="ellipse">
            <a:avLst/>
          </a:prstGeom>
          <a:solidFill>
            <a:srgbClr val="C68B3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4848" y="4837176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315200" y="4681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8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— from 2026 research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7315200" y="5010912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P3 measurable. </a:t>
            </a:r>
            <a:r>
              <a:rPr lang="en-US" sz="1050" dirty="0">
                <a:solidFill>
                  <a:srgbClr val="D8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evaluation research has changed from single-shot accuracy to </a:t>
            </a:r>
            <a:r>
              <a:rPr lang="en-US" sz="1050" b="1" dirty="0">
                <a:solidFill>
                  <a:srgbClr val="F2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trajectory-level, tool-aware metrics</a:t>
            </a:r>
            <a:r>
              <a:rPr lang="en-US" sz="1050" dirty="0">
                <a:solidFill>
                  <a:srgbClr val="D8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e.g. </a:t>
            </a:r>
            <a:r>
              <a:rPr lang="en-US" sz="1050" dirty="0" err="1">
                <a:solidFill>
                  <a:srgbClr val="D8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TRiSM’s</a:t>
            </a:r>
            <a:r>
              <a:rPr lang="en-US" sz="1050">
                <a:solidFill>
                  <a:srgbClr val="D8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Component Synergy </a:t>
            </a:r>
            <a:r>
              <a:rPr lang="en-US" sz="1050" dirty="0">
                <a:solidFill>
                  <a:srgbClr val="D8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050">
                <a:solidFill>
                  <a:srgbClr val="D8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&amp; Tool Utilization </a:t>
            </a:r>
            <a:r>
              <a:rPr lang="en-US" sz="1050" dirty="0">
                <a:solidFill>
                  <a:srgbClr val="D8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050">
                <a:solidFill>
                  <a:srgbClr val="D8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fficacy </a:t>
            </a:r>
            <a:r>
              <a:rPr lang="en-US" sz="1050" dirty="0">
                <a:solidFill>
                  <a:srgbClr val="D8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(Raza et al., 2026). Adopt these as compliance-linked reliability KPIs to move P3 from </a:t>
            </a:r>
            <a:r>
              <a:rPr lang="en-US" sz="1050" b="1" dirty="0">
                <a:solidFill>
                  <a:srgbClr val="C68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to empirically tested.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1255</Words>
  <Application>Microsoft Office PowerPoint</Application>
  <PresentationFormat>Widescreen</PresentationFormat>
  <Paragraphs>111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Clara E. Silva</cp:lastModifiedBy>
  <cp:revision>2</cp:revision>
  <dcterms:created xsi:type="dcterms:W3CDTF">2026-07-15T18:07:04Z</dcterms:created>
  <dcterms:modified xsi:type="dcterms:W3CDTF">2026-07-15T19:46:37Z</dcterms:modified>
</cp:coreProperties>
</file>